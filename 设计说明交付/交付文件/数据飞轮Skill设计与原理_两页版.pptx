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99410df5ed4b03" /><Relationship Type="http://schemas.openxmlformats.org/officeDocument/2006/relationships/extended-properties" Target="/docProps/app.xml" Id="R99d9681e5d4e4603" /><Relationship Type="http://schemas.openxmlformats.org/officeDocument/2006/relationships/officeDocument" Target="/ppt/presentation.xml" Id="R3bfb9663bfd044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fd23d6aea1414e"/>
  </p:sldMasterIdLst>
  <p:notesMasterIdLst>
    <p:notesMasterId xmlns:r="http://schemas.openxmlformats.org/officeDocument/2006/relationships" r:id="Re5b01038954a4575"/>
  </p:notesMasterIdLst>
  <p:sldIdLst>
    <p:sldId xmlns:r="http://schemas.openxmlformats.org/officeDocument/2006/relationships" id="256" r:id="Re9cfe6e527f8450f"/>
    <p:sldId xmlns:r="http://schemas.openxmlformats.org/officeDocument/2006/relationships" id="257" r:id="Rbfdcbcbaecec4eb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1b49044366486b" /><Relationship Type="http://schemas.openxmlformats.org/officeDocument/2006/relationships/slideMaster" Target="/ppt/slideMasters/slideMaster1.xml" Id="R64fd23d6aea1414e" /><Relationship Type="http://schemas.openxmlformats.org/officeDocument/2006/relationships/notesMaster" Target="/ppt/notesMasters/notesMaster1.xml" Id="Re5b01038954a4575" /><Relationship Type="http://schemas.openxmlformats.org/officeDocument/2006/relationships/presProps" Target="/ppt/presProps.xml" Id="R1669e2e9e4f04d6e" /><Relationship Type="http://schemas.openxmlformats.org/officeDocument/2006/relationships/tableStyles" Target="/ppt/tableStyles.xml" Id="Rf5ebd109b290423e" /><Relationship Type="http://schemas.openxmlformats.org/officeDocument/2006/relationships/slide" Target="/ppt/slides/slide1.xml" Id="Re9cfe6e527f8450f" /><Relationship Type="http://schemas.openxmlformats.org/officeDocument/2006/relationships/slide" Target="/ppt/slides/slide2.xml" Id="Rbfdcbcbaecec4e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da22258e3843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45c1f58c684229" /><Relationship Type="http://schemas.openxmlformats.org/officeDocument/2006/relationships/notesMaster" Target="/ppt/notesMasters/notesMaster1.xml" Id="Rcfe72fbce90342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fc975c849748d7" /><Relationship Type="http://schemas.openxmlformats.org/officeDocument/2006/relationships/notesMaster" Target="/ppt/notesMasters/notesMaster1.xml" Id="Rc121cdab91ec48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设计依据为完整版本 agent-data-flywheel 的 SKILL.md、README.md、references/analysis-contract.md、scripts/analyze.py、scripts/prepare_review.py、scripts/merge_reviews.py、scripts/render_dashboard.py。</a:t>
            </a:r>
          </a:p>
          <a:p xmlns:a="http://schemas.openxmlformats.org/drawingml/2006/main">
            <a:r>
              <a:t>流程说明：当前 AI 助手读取批次及规则，独立完成评审 JSON，脚本本身不调用模型 API。Python 处理与生成后的静态 HTML 可离线使用，AI 推理环境可能依赖网络。</a:t>
            </a:r>
          </a:p>
          <a:p xmlns:a="http://schemas.openxmlformats.org/drawingml/2006/main">
            <a:r>
              <a:t>文档快照来源：数据字段字典.md、数据字段说明与真实实例.md。42、3280、468、16201 为原字段文档报告值，本地仅保留四份真实实例摘录，不代表已接入全量原始日志。不同来源的请求、反馈与对话不能合计为独立问题量。</a:t>
            </a:r>
          </a:p>
          <a:p xmlns:a="http://schemas.openxmlformats.org/drawingml/2006/main">
            <a:r>
              <a:t>五阶段实际执行命令和数据契约详见随附设计文档。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依据：references/review-rubric.md、references/analysis-contract.md、scripts/review_common.py、scripts/merge_reviews.py。</a:t>
            </a:r>
          </a:p>
          <a:p xmlns:a="http://schemas.openxmlformats.org/drawingml/2006/main">
            <a:r>
              <a:t>有效性、支持性与正确性独立。支持性须引用当前能力矩阵中的规则，不能仅因规则未列出就判不支持。正确性及 confirmed BadCase 需用户提供且绑定当前 record_id 的 human_label 或 reference_answer。差评只进入候选。</a:t>
            </a:r>
          </a:p>
          <a:p xmlns:a="http://schemas.openxmlformats.org/drawingml/2006/main">
            <a:r>
              <a:t>不支持问数的严格统计条件：validity=valid，intent 包含 data_query，support=unsupported。partial 单列，uncertain 不计入已确认不支持。</a:t>
            </a:r>
          </a:p>
          <a:p xmlns:a="http://schemas.openxmlformats.org/drawingml/2006/main">
            <a:r>
              <a:t>双指纹为 SHA-256 内容一致性校验，绑定 analysis.json 以及能力/评测材料，不是数字签名，也不能证明外部标签真实。合并和渲染都进行校验，准确率只覆盖有正确性依据的已评测记录。</a:t>
            </a:r>
          </a:p>
          <a:p xmlns:a="http://schemas.openxmlformats.org/drawingml/2006/main">
            <a:r>
              <a:t>飞轮左侧和底部展示未来业务接入方向。当前 Skill 提供问题分析及可视化，尚未实现知识库更新、训练、自动 OTA、工单流转与生产复测。</a:t>
            </a:r>
          </a:p>
          <a:p xmlns:a="http://schemas.openxmlformats.org/drawingml/2006/main">
            <a:r>
              <a:t>背景飞轮图为 image_gen 生成的概念示意，不包含测量数据。提示词记录在构建目录，文字与表格保持为原生 PowerPoint 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6a8d556374d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90e02372748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d5f24f47a49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d57db706d48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5e4c31fd046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a7318248046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CF97D0-392E-4126-8BE1-14800EAA2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AD7280-E3D3-4BB6-AE92-27914C7AE4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FBFAD0-7A90-4076-B8B7-BF30C20FF5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5260B7-C607-421C-A63B-7E9FE45ADD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C3E111-223E-47AC-AD7F-6AF8A73627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23AFC5-8F70-439E-8EE3-0AB7086DA6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F7992A-1DCA-4FC9-AD97-9E1DB11478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9EA214-2F9D-4D24-ACD1-C96CB79045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5268C4-9AF8-455B-A1BC-30449E8A8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D5348C-7E86-455E-8609-A0685144F2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78448cbd2542fe" /><Relationship Type="http://schemas.openxmlformats.org/officeDocument/2006/relationships/slideLayout" Target="/ppt/slideLayouts/slideLayout1.xml" Id="R1d3a7f8ae7be47ce" /><Relationship Type="http://schemas.openxmlformats.org/officeDocument/2006/relationships/slideLayout" Target="/ppt/slideLayouts/slideLayout2.xml" Id="Red02b7a6a91b4012" /><Relationship Type="http://schemas.openxmlformats.org/officeDocument/2006/relationships/slideLayout" Target="/ppt/slideLayouts/slideLayout3.xml" Id="R56b8695b7583433c" /><Relationship Type="http://schemas.openxmlformats.org/officeDocument/2006/relationships/slideLayout" Target="/ppt/slideLayouts/slideLayout4.xml" Id="R7f78c095053b4a0b" /><Relationship Type="http://schemas.openxmlformats.org/officeDocument/2006/relationships/slideLayout" Target="/ppt/slideLayouts/slideLayout5.xml" Id="R18fd56fdefdf43dc" /><Relationship Type="http://schemas.openxmlformats.org/officeDocument/2006/relationships/slideLayout" Target="/ppt/slideLayouts/slideLayout6.xml" Id="R7417fb18d16f4f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3a7f8ae7be47ce"/>
    <p:sldLayoutId xmlns:r="http://schemas.openxmlformats.org/officeDocument/2006/relationships" id="2147483650" r:id="Red02b7a6a91b4012"/>
    <p:sldLayoutId xmlns:r="http://schemas.openxmlformats.org/officeDocument/2006/relationships" id="2147483651" r:id="R56b8695b7583433c"/>
    <p:sldLayoutId xmlns:r="http://schemas.openxmlformats.org/officeDocument/2006/relationships" id="2147483652" r:id="R7f78c095053b4a0b"/>
    <p:sldLayoutId xmlns:r="http://schemas.openxmlformats.org/officeDocument/2006/relationships" id="2147483653" r:id="R18fd56fdefdf43dc"/>
    <p:sldLayoutId xmlns:r="http://schemas.openxmlformats.org/officeDocument/2006/relationships" id="2147483654" r:id="R7417fb18d16f4f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930d538204d1a" /><Relationship Type="http://schemas.openxmlformats.org/officeDocument/2006/relationships/notesSlide" Target="/ppt/notesSlides/notesSlide1.xml" Id="R2a9dcd7e25eb40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ab3129fe14958" /><Relationship Type="http://schemas.openxmlformats.org/officeDocument/2006/relationships/image" Target="/ppt/media/image.png" Id="R7b3e9d86ec1d45ae" /><Relationship Type="http://schemas.openxmlformats.org/officeDocument/2006/relationships/notesSlide" Target="/ppt/notesSlides/notesSlide2.xml" Id="R9b63d438339d4e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architecture">
            <a:extLst xmlns:a="http://schemas.openxmlformats.org/drawingml/2006/main">
              <a:ext uri="{FF2B5EF4-FFF2-40B4-BE49-F238E27FC236}">
                <a16:creationId xmlns:a16="http://schemas.microsoft.com/office/drawing/2014/main" id="{302A6071-B188-4187-9B7B-A8438798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0C294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0C29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0C2942"/>
                </a:solidFill>
                <a:latin typeface="Arial Unicode MS"/>
                <a:ea typeface="Arial Unicode MS"/>
                <a:cs typeface="Arial Unicode MS"/>
              </a:rPr>
              <a:t>数据飞轮 Skill 总体设计</a:t>
            </a:r>
          </a:p>
        </p:txBody>
      </p:sp>
      <p:sp>
        <p:nvSpPr>
          <p:cNvPr id="2" name="architecture-summary">
            <a:extLst xmlns:a="http://schemas.openxmlformats.org/drawingml/2006/main">
              <a:ext uri="{FF2B5EF4-FFF2-40B4-BE49-F238E27FC236}">
                <a16:creationId xmlns:a16="http://schemas.microsoft.com/office/drawing/2014/main" id="{3E99CFAA-EFEA-458C-A8C5-9B0CD323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446174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4461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446174"/>
                </a:solidFill>
                <a:latin typeface="Arial Unicode MS"/>
                <a:ea typeface="Arial Unicode MS"/>
                <a:cs typeface="Arial Unicode MS"/>
              </a:rPr>
              <a:t>脚本计算统计，AI 解释业务语义，离线 HTML 展示结果</a:t>
            </a:r>
          </a:p>
        </p:txBody>
      </p:sp>
      <p:sp>
        <p:nvSpPr>
          <p:cNvPr id="3" name="pipeline-heading">
            <a:extLst xmlns:a="http://schemas.openxmlformats.org/drawingml/2006/main">
              <a:ext uri="{FF2B5EF4-FFF2-40B4-BE49-F238E27FC236}">
                <a16:creationId xmlns:a16="http://schemas.microsoft.com/office/drawing/2014/main" id="{5E0BC741-C3E9-49BB-9A9A-2487C350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C294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C29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C2942"/>
                </a:solidFill>
                <a:latin typeface="Arial Unicode MS"/>
                <a:ea typeface="Arial Unicode MS"/>
                <a:cs typeface="Arial Unicode MS"/>
              </a:rPr>
              <a:t>五阶段分析流程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FEF6C-0908-4481-99CB-AB9CABAED077}"/>
              </a:ext>
            </a:extLst>
          </p:cNvPr>
          <p:cNvGraphicFramePr/>
          <p:nvPr/>
        </p:nvGraphicFramePr>
        <p:xfrm>
          <a:off xmlns:a="http://schemas.openxmlformats.org/drawingml/2006/main" x="723900" y="2914650"/>
          <a:ext xmlns:a="http://schemas.openxmlformats.org/drawingml/2006/main" cx="9239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238500"/>
                <a:gridCol w="3905250"/>
              </a:tblGrid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D5E1E9"/>
                      </a:solidFill>
                      <a:prstDash val="solid"/>
                    </a:lnL>
                    <a:lnR w="9525">
                      <a:solidFill>
                        <a:srgbClr val="D5E1E9"/>
                      </a:solidFill>
                      <a:prstDash val="solid"/>
                    </a:lnR>
                    <a:lnT w="9525">
                      <a:solidFill>
                        <a:srgbClr val="D5E1E9"/>
                      </a:solidFill>
                      <a:prstDash val="solid"/>
                    </a:lnT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E3F0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执行入口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T w="9525">
                      <a:solidFill>
                        <a:srgbClr val="D5E1E9"/>
                      </a:solidFill>
                      <a:prstDash val="solid"/>
                    </a:lnT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E3F0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阶段产物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T w="9525">
                      <a:solidFill>
                        <a:srgbClr val="D5E1E9"/>
                      </a:solidFill>
                      <a:prstDash val="solid"/>
                    </a:lnT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E3F0F8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01 解析统计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D5E1E9"/>
                      </a:solidFill>
                      <a:prstDash val="solid"/>
                    </a:lnL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analyze.py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analysis.json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02 组织证据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D5E1E9"/>
                      </a:solidFill>
                      <a:prstDash val="solid"/>
                    </a:lnL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prepare_review.py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评审批次与证据 ID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03 语义评审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D5E1E9"/>
                      </a:solidFill>
                      <a:prstDash val="solid"/>
                    </a:lnL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 AI 助手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ai_reviews.json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04 校验合并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D5E1E9"/>
                      </a:solidFill>
                      <a:prstDash val="solid"/>
                    </a:lnL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merge_reviews.py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reviewed_analysis.json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05 生成看板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D5E1E9"/>
                      </a:solidFill>
                      <a:prstDash val="solid"/>
                    </a:lnL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render_dashboard.py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937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dashboard.html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D5E1E9"/>
                      </a:solidFill>
                      <a:prstDash val="solid"/>
                    </a:lnR>
                    <a:lnB w="9525">
                      <a:solidFill>
                        <a:srgbClr val="D5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ckage-heading">
            <a:extLst xmlns:a="http://schemas.openxmlformats.org/drawingml/2006/main">
              <a:ext uri="{FF2B5EF4-FFF2-40B4-BE49-F238E27FC236}">
                <a16:creationId xmlns:a16="http://schemas.microsoft.com/office/drawing/2014/main" id="{342C181D-0615-48EB-8592-B4C6CB5E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C294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C29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C2942"/>
                </a:solidFill>
                <a:latin typeface="Arial Unicode MS"/>
                <a:ea typeface="Arial Unicode MS"/>
                <a:cs typeface="Arial Unicode MS"/>
              </a:rPr>
              <a:t>可复制的 Skill 文件夹</a:t>
            </a:r>
          </a:p>
        </p:txBody>
      </p:sp>
      <p:sp>
        <p:nvSpPr>
          <p:cNvPr id="6" name="package-name-0">
            <a:extLst xmlns:a="http://schemas.openxmlformats.org/drawingml/2006/main">
              <a:ext uri="{FF2B5EF4-FFF2-40B4-BE49-F238E27FC236}">
                <a16:creationId xmlns:a16="http://schemas.microsoft.com/office/drawing/2014/main" id="{33D4B2E7-5612-4845-9CBD-8992BE04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09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rPr>
              <a:t>SKILL.md</a:t>
            </a:r>
          </a:p>
        </p:txBody>
      </p:sp>
      <p:sp>
        <p:nvSpPr>
          <p:cNvPr id="7" name="package-desc-0">
            <a:extLst xmlns:a="http://schemas.openxmlformats.org/drawingml/2006/main">
              <a:ext uri="{FF2B5EF4-FFF2-40B4-BE49-F238E27FC236}">
                <a16:creationId xmlns:a16="http://schemas.microsoft.com/office/drawing/2014/main" id="{DEE0A134-436E-4480-B911-92ADDF5B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528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rPr>
              <a:t>AI 任务入口</a:t>
            </a:r>
          </a:p>
        </p:txBody>
      </p:sp>
      <p:sp>
        <p:nvSpPr>
          <p:cNvPr id="8" name="package-name-1">
            <a:extLst xmlns:a="http://schemas.openxmlformats.org/drawingml/2006/main">
              <a:ext uri="{FF2B5EF4-FFF2-40B4-BE49-F238E27FC236}">
                <a16:creationId xmlns:a16="http://schemas.microsoft.com/office/drawing/2014/main" id="{F1F3FFB4-F628-4AB1-BD96-8E29B78E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71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rPr>
              <a:t>references/</a:t>
            </a:r>
          </a:p>
        </p:txBody>
      </p:sp>
      <p:sp>
        <p:nvSpPr>
          <p:cNvPr id="9" name="package-desc-1">
            <a:extLst xmlns:a="http://schemas.openxmlformats.org/drawingml/2006/main">
              <a:ext uri="{FF2B5EF4-FFF2-40B4-BE49-F238E27FC236}">
                <a16:creationId xmlns:a16="http://schemas.microsoft.com/office/drawing/2014/main" id="{38BF17F7-8A26-4642-9B81-9AF0812F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148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rPr>
              <a:t>字段与判定规则</a:t>
            </a:r>
          </a:p>
        </p:txBody>
      </p:sp>
      <p:sp>
        <p:nvSpPr>
          <p:cNvPr id="10" name="package-name-2">
            <a:extLst xmlns:a="http://schemas.openxmlformats.org/drawingml/2006/main">
              <a:ext uri="{FF2B5EF4-FFF2-40B4-BE49-F238E27FC236}">
                <a16:creationId xmlns:a16="http://schemas.microsoft.com/office/drawing/2014/main" id="{F0F1E8DC-D8F4-4105-81F5-85484F29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33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rPr>
              <a:t>scripts/</a:t>
            </a:r>
          </a:p>
        </p:txBody>
      </p:sp>
      <p:sp>
        <p:nvSpPr>
          <p:cNvPr id="11" name="package-desc-2">
            <a:extLst xmlns:a="http://schemas.openxmlformats.org/drawingml/2006/main">
              <a:ext uri="{FF2B5EF4-FFF2-40B4-BE49-F238E27FC236}">
                <a16:creationId xmlns:a16="http://schemas.microsoft.com/office/drawing/2014/main" id="{3A94FB93-C465-42A7-B286-A1DBDCFC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768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rPr>
              <a:t>解析、分批与校验</a:t>
            </a:r>
          </a:p>
        </p:txBody>
      </p:sp>
      <p:sp>
        <p:nvSpPr>
          <p:cNvPr id="12" name="package-name-3">
            <a:extLst xmlns:a="http://schemas.openxmlformats.org/drawingml/2006/main">
              <a:ext uri="{FF2B5EF4-FFF2-40B4-BE49-F238E27FC236}">
                <a16:creationId xmlns:a16="http://schemas.microsoft.com/office/drawing/2014/main" id="{E6CD28E8-DBC0-4DB7-AAC7-9D6E62EC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95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rPr>
              <a:t>assets/</a:t>
            </a:r>
          </a:p>
        </p:txBody>
      </p:sp>
      <p:sp>
        <p:nvSpPr>
          <p:cNvPr id="13" name="package-desc-3">
            <a:extLst xmlns:a="http://schemas.openxmlformats.org/drawingml/2006/main">
              <a:ext uri="{FF2B5EF4-FFF2-40B4-BE49-F238E27FC236}">
                <a16:creationId xmlns:a16="http://schemas.microsoft.com/office/drawing/2014/main" id="{EE5B59FA-13D3-4CFA-9B95-13676A22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6388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rPr>
              <a:t>看板模板与文档快照</a:t>
            </a:r>
          </a:p>
        </p:txBody>
      </p:sp>
      <p:sp>
        <p:nvSpPr>
          <p:cNvPr id="14" name="package-name-4">
            <a:extLst xmlns:a="http://schemas.openxmlformats.org/drawingml/2006/main">
              <a:ext uri="{FF2B5EF4-FFF2-40B4-BE49-F238E27FC236}">
                <a16:creationId xmlns:a16="http://schemas.microsoft.com/office/drawing/2014/main" id="{717C43D7-6742-404A-96F2-6431AAC9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57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EA4"/>
                </a:solidFill>
                <a:latin typeface="Arial Unicode MS"/>
                <a:ea typeface="Arial Unicode MS"/>
                <a:cs typeface="Arial Unicode MS"/>
              </a:rPr>
              <a:t>examples/</a:t>
            </a:r>
          </a:p>
        </p:txBody>
      </p:sp>
      <p:sp>
        <p:nvSpPr>
          <p:cNvPr id="15" name="package-desc-4">
            <a:extLst xmlns:a="http://schemas.openxmlformats.org/drawingml/2006/main">
              <a:ext uri="{FF2B5EF4-FFF2-40B4-BE49-F238E27FC236}">
                <a16:creationId xmlns:a16="http://schemas.microsoft.com/office/drawing/2014/main" id="{87B7E8F6-2E2D-46EA-80B6-AD250E88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496678"/>
                </a:solidFill>
                <a:latin typeface="Arial Unicode MS"/>
                <a:ea typeface="Arial Unicode MS"/>
                <a:cs typeface="Arial Unicode MS"/>
              </a:rPr>
              <a:t>可复现的分析与看板</a:t>
            </a:r>
          </a:p>
        </p:txBody>
      </p:sp>
      <p:sp>
        <p:nvSpPr>
          <p:cNvPr id="16" name="source-scope">
            <a:extLst xmlns:a="http://schemas.openxmlformats.org/drawingml/2006/main">
              <a:ext uri="{FF2B5EF4-FFF2-40B4-BE49-F238E27FC236}">
                <a16:creationId xmlns:a16="http://schemas.microsoft.com/office/drawing/2014/main" id="{5431E65F-CE7F-4DBC-89A4-43E7977A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0"/>
            <a:ext cx="1381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D7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D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26D7E"/>
                </a:solidFill>
                <a:latin typeface="Arial Unicode MS"/>
                <a:ea typeface="Arial Unicode MS"/>
                <a:cs typeface="Arial Unicode MS"/>
              </a:rPr>
              <a:t>文档报告值：反馈 42、护栏 3,280、对话 468、推理 16,201。当前仅含 4 条实例摘录，各来源计数单位不同。</a:t>
            </a:r>
          </a:p>
        </p:txBody>
      </p:sp>
    </p:spTree>
    <p:extLst>
      <p:ext uri="{BB962C8B-B14F-4D97-AF65-F5344CB8AC3E}">
        <p14:creationId xmlns:p14="http://schemas.microsoft.com/office/powerpoint/2010/main" val="60946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53C93-5F0D-4B3B-8933-5A58014B12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e9d86ec1d45ae"/>
          <a:stretch xmlns:a="http://schemas.openxmlformats.org/drawingml/2006/main"/>
        </p:blipFill>
        <p:spPr>
          <a:xfrm xmlns:a="http://schemas.openxmlformats.org/drawingml/2006/main">
            <a:off x="695325" y="1714500"/>
            <a:ext cx="6191250" cy="6191250"/>
          </a:xfrm>
          <a:prstGeom xmlns:a="http://schemas.openxmlformats.org/drawingml/2006/main" prst="rect">
            <a:avLst/>
          </a:prstGeom>
        </p:spPr>
      </p:pic>
      <p:sp>
        <p:nvSpPr>
          <p:cNvPr id="2" name="title-principle">
            <a:extLst xmlns:a="http://schemas.openxmlformats.org/drawingml/2006/main">
              <a:ext uri="{FF2B5EF4-FFF2-40B4-BE49-F238E27FC236}">
                <a16:creationId xmlns:a16="http://schemas.microsoft.com/office/drawing/2014/main" id="{95881B75-768B-4876-86DC-AE9416E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F3FAF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F3FAF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F3FAFD"/>
                </a:solidFill>
                <a:latin typeface="Arial Unicode MS"/>
                <a:ea typeface="Arial Unicode MS"/>
                <a:cs typeface="Arial Unicode MS"/>
              </a:rPr>
              <a:t>AI 评审原理与数据飞轮</a:t>
            </a:r>
          </a:p>
        </p:txBody>
      </p:sp>
      <p:sp>
        <p:nvSpPr>
          <p:cNvPr id="3" name="principle-summary">
            <a:extLst xmlns:a="http://schemas.openxmlformats.org/drawingml/2006/main">
              <a:ext uri="{FF2B5EF4-FFF2-40B4-BE49-F238E27FC236}">
                <a16:creationId xmlns:a16="http://schemas.microsoft.com/office/drawing/2014/main" id="{ABF1858F-5A17-4958-9A1A-3E6AD3F0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381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rPr>
              <a:t>每条语义结论绑定证据，改进效果通过后续复测确认</a:t>
            </a:r>
          </a:p>
        </p:txBody>
      </p:sp>
      <p:sp>
        <p:nvSpPr>
          <p:cNvPr id="4" name="loop-top">
            <a:extLst xmlns:a="http://schemas.openxmlformats.org/drawingml/2006/main">
              <a:ext uri="{FF2B5EF4-FFF2-40B4-BE49-F238E27FC236}">
                <a16:creationId xmlns:a16="http://schemas.microsoft.com/office/drawing/2014/main" id="{85B089D5-ECD9-4CF3-A626-739CEE8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1812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D8F0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8F0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D8F0FF"/>
                </a:solidFill>
                <a:latin typeface="Arial Unicode MS"/>
                <a:ea typeface="Arial Unicode MS"/>
                <a:cs typeface="Arial Unicode MS"/>
              </a:rPr>
              <a:t>收集日志</a:t>
            </a:r>
          </a:p>
        </p:txBody>
      </p:sp>
      <p:sp>
        <p:nvSpPr>
          <p:cNvPr id="5" name="loop-right">
            <a:extLst xmlns:a="http://schemas.openxmlformats.org/drawingml/2006/main">
              <a:ext uri="{FF2B5EF4-FFF2-40B4-BE49-F238E27FC236}">
                <a16:creationId xmlns:a16="http://schemas.microsoft.com/office/drawing/2014/main" id="{6D9B9471-13DE-4232-8F31-0DE2D05E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B3F2F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B3F2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B3F2FA"/>
                </a:solidFill>
                <a:latin typeface="Arial Unicode MS"/>
                <a:ea typeface="Arial Unicode MS"/>
                <a:cs typeface="Arial Unicode MS"/>
              </a:rPr>
              <a:t>AI 评审</a:t>
            </a:r>
          </a:p>
          <a:p xmlns:a="http://schemas.openxmlformats.org/drawingml/2006/main">
            <a:pPr algn="ctr">
              <a:defRPr sz="2250" b="1">
                <a:solidFill>
                  <a:srgbClr val="B3F2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B3F2FA"/>
                </a:solidFill>
                <a:latin typeface="Arial Unicode MS"/>
                <a:ea typeface="Arial Unicode MS"/>
                <a:cs typeface="Arial Unicode MS"/>
              </a:rPr>
              <a:t>生成看板</a:t>
            </a:r>
          </a:p>
        </p:txBody>
      </p:sp>
      <p:sp>
        <p:nvSpPr>
          <p:cNvPr id="6" name="loop-bottom">
            <a:extLst xmlns:a="http://schemas.openxmlformats.org/drawingml/2006/main">
              <a:ext uri="{FF2B5EF4-FFF2-40B4-BE49-F238E27FC236}">
                <a16:creationId xmlns:a16="http://schemas.microsoft.com/office/drawing/2014/main" id="{EF7F9731-17BE-4175-B477-574BF770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6896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E0A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E0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E0A3"/>
                </a:solidFill>
                <a:latin typeface="Arial Unicode MS"/>
                <a:ea typeface="Arial Unicode MS"/>
                <a:cs typeface="Arial Unicode MS"/>
              </a:rPr>
              <a:t>改进与复测</a:t>
            </a:r>
          </a:p>
        </p:txBody>
      </p:sp>
      <p:sp>
        <p:nvSpPr>
          <p:cNvPr id="7" name="loop-bottom-scope">
            <a:extLst xmlns:a="http://schemas.openxmlformats.org/drawingml/2006/main">
              <a:ext uri="{FF2B5EF4-FFF2-40B4-BE49-F238E27FC236}">
                <a16:creationId xmlns:a16="http://schemas.microsoft.com/office/drawing/2014/main" id="{1C11D0C5-9BD8-42E8-9E41-7408576A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73056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rPr>
              <a:t>待接入修复记录</a:t>
            </a:r>
          </a:p>
        </p:txBody>
      </p:sp>
      <p:sp>
        <p:nvSpPr>
          <p:cNvPr id="8" name="loop-left">
            <a:extLst xmlns:a="http://schemas.openxmlformats.org/drawingml/2006/main">
              <a:ext uri="{FF2B5EF4-FFF2-40B4-BE49-F238E27FC236}">
                <a16:creationId xmlns:a16="http://schemas.microsoft.com/office/drawing/2014/main" id="{AE2E75C0-5E24-4B8C-ADCE-34381781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4391025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E0A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E0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E0A3"/>
                </a:solidFill>
                <a:latin typeface="Arial Unicode MS"/>
                <a:ea typeface="Arial Unicode MS"/>
                <a:cs typeface="Arial Unicode MS"/>
              </a:rPr>
              <a:t>上线回流</a:t>
            </a:r>
          </a:p>
        </p:txBody>
      </p:sp>
      <p:sp>
        <p:nvSpPr>
          <p:cNvPr id="9" name="loop-left-scope">
            <a:extLst xmlns:a="http://schemas.openxmlformats.org/drawingml/2006/main">
              <a:ext uri="{FF2B5EF4-FFF2-40B4-BE49-F238E27FC236}">
                <a16:creationId xmlns:a16="http://schemas.microsoft.com/office/drawing/2014/main" id="{0534EFD0-E292-4430-947D-BAF7085D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8196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rPr>
              <a:t>待接入发布流程</a:t>
            </a:r>
          </a:p>
        </p:txBody>
      </p:sp>
      <p:sp>
        <p:nvSpPr>
          <p:cNvPr id="10" name="loop-center">
            <a:extLst xmlns:a="http://schemas.openxmlformats.org/drawingml/2006/main">
              <a:ext uri="{FF2B5EF4-FFF2-40B4-BE49-F238E27FC236}">
                <a16:creationId xmlns:a16="http://schemas.microsoft.com/office/drawing/2014/main" id="{6A392227-7D68-41B2-ACE3-84437266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100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450" b="1">
                <a:solidFill>
                  <a:srgbClr val="F1FAF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F1FA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1FAFE"/>
                </a:solidFill>
                <a:latin typeface="Arial Unicode MS"/>
                <a:ea typeface="Arial Unicode MS"/>
                <a:cs typeface="Arial Unicode MS"/>
              </a:rPr>
              <a:t>数据飞轮</a:t>
            </a:r>
          </a:p>
        </p:txBody>
      </p:sp>
      <p:sp>
        <p:nvSpPr>
          <p:cNvPr id="11" name="loop-center-sub">
            <a:extLst xmlns:a="http://schemas.openxmlformats.org/drawingml/2006/main">
              <a:ext uri="{FF2B5EF4-FFF2-40B4-BE49-F238E27FC236}">
                <a16:creationId xmlns:a16="http://schemas.microsoft.com/office/drawing/2014/main" id="{2428F5DF-24A6-4C47-86A9-6FD276C4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86325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FCBDB"/>
                </a:solidFill>
                <a:latin typeface="Arial Unicode MS"/>
                <a:ea typeface="Arial Unicode MS"/>
                <a:cs typeface="Arial Unicode MS"/>
              </a:rPr>
              <a:t>当前完成分析与展示</a:t>
            </a:r>
          </a:p>
        </p:txBody>
      </p:sp>
      <p:sp>
        <p:nvSpPr>
          <p:cNvPr id="12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C0DA2D65-510E-4B12-98BB-7B8AE7AA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3FAF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3FAF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3FAFD"/>
                </a:solidFill>
                <a:latin typeface="Arial Unicode MS"/>
                <a:ea typeface="Arial Unicode MS"/>
                <a:cs typeface="Arial Unicode MS"/>
              </a:rPr>
              <a:t>语义判断与证据要求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0FBE8-B834-4023-B614-3AEF8FE4E930}"/>
              </a:ext>
            </a:extLst>
          </p:cNvPr>
          <p:cNvGraphicFramePr/>
          <p:nvPr/>
        </p:nvGraphicFramePr>
        <p:xfrm>
          <a:off xmlns:a="http://schemas.openxmlformats.org/drawingml/2006/main" x="8001000" y="2962275"/>
          <a:ext xmlns:a="http://schemas.openxmlformats.org/drawingml/2006/main" cx="65151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3133725"/>
                <a:gridCol w="1905000"/>
              </a:tblGrid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判断维度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355264"/>
                      </a:solidFill>
                      <a:prstDash val="solid"/>
                    </a:lnL>
                    <a:lnR w="9525">
                      <a:solidFill>
                        <a:srgbClr val="355264"/>
                      </a:solidFill>
                      <a:prstDash val="solid"/>
                    </a:lnR>
                    <a:lnT w="9525">
                      <a:solidFill>
                        <a:srgbClr val="355264"/>
                      </a:solidFill>
                      <a:prstDash val="solid"/>
                    </a:lnT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18394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主要依据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355264"/>
                      </a:solidFill>
                      <a:prstDash val="solid"/>
                    </a:lnR>
                    <a:lnT w="9525">
                      <a:solidFill>
                        <a:srgbClr val="355264"/>
                      </a:solidFill>
                      <a:prstDash val="solid"/>
                    </a:lnT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18394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缺少依据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355264"/>
                      </a:solidFill>
                      <a:prstDash val="solid"/>
                    </a:lnR>
                    <a:lnT w="9525">
                      <a:solidFill>
                        <a:srgbClr val="355264"/>
                      </a:solidFill>
                      <a:prstDash val="solid"/>
                    </a:lnT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18394C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有效性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355264"/>
                      </a:solidFill>
                      <a:prstDash val="solid"/>
                    </a:lnL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0B223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可辨识的业务需求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0B223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保留未知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0B2232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支持性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355264"/>
                      </a:solidFill>
                      <a:prstDash val="solid"/>
                    </a:lnL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102B3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已确认的能力规则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102B3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保留未知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102B3D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正确性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355264"/>
                      </a:solidFill>
                      <a:prstDash val="solid"/>
                    </a:lnL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0B223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人工标签或标准答案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0B223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准确率为空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0B2232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BadCase</a:t>
                      </a:r>
                    </a:p>
                  </a:txBody>
                  <a:tcPr marL="171450" marR="171450" marT="114300" marB="114300" anchor="ctr">
                    <a:lnL w="9525">
                      <a:solidFill>
                        <a:srgbClr val="355264"/>
                      </a:solidFill>
                      <a:prstDash val="solid"/>
                    </a:lnL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102B3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差评形成候选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确认需评测依据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102B3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ECF6F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候选或未知</a:t>
                      </a:r>
                    </a:p>
                  </a:txBody>
                  <a:tcPr marL="171450" marR="171450" marT="114300" marB="114300" anchor="ctr">
                    <a:lnR w="9525">
                      <a:solidFill>
                        <a:srgbClr val="355264"/>
                      </a:solidFill>
                      <a:prstDash val="solid"/>
                    </a:lnR>
                    <a:lnB w="9525">
                      <a:solidFill>
                        <a:srgbClr val="355264"/>
                      </a:solidFill>
                      <a:prstDash val="solid"/>
                    </a:lnB>
                    <a:solidFill>
                      <a:srgbClr val="102B3D"/>
                    </a:solidFill>
                  </a:tcPr>
                </a:tc>
              </a:tr>
            </a:tbl>
          </a:graphicData>
        </a:graphic>
      </p:graphicFrame>
      <p:sp>
        <p:nvSpPr>
          <p:cNvPr id="14" name="unsupported-definition">
            <a:extLst xmlns:a="http://schemas.openxmlformats.org/drawingml/2006/main">
              <a:ext uri="{FF2B5EF4-FFF2-40B4-BE49-F238E27FC236}">
                <a16:creationId xmlns:a16="http://schemas.microsoft.com/office/drawing/2014/main" id="{E2C166EA-94CA-4B03-B78E-25CDA418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81775"/>
            <a:ext cx="651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4F3F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4F3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4F3FA"/>
                </a:solidFill>
                <a:latin typeface="Arial Unicode MS"/>
                <a:ea typeface="Arial Unicode MS"/>
                <a:cs typeface="Arial Unicode MS"/>
              </a:rPr>
              <a:t>不支持问数的统计条件</a:t>
            </a:r>
          </a:p>
        </p:txBody>
      </p:sp>
      <p:sp>
        <p:nvSpPr>
          <p:cNvPr id="15" name="unsupported-detail">
            <a:extLst xmlns:a="http://schemas.openxmlformats.org/drawingml/2006/main">
              <a:ext uri="{FF2B5EF4-FFF2-40B4-BE49-F238E27FC236}">
                <a16:creationId xmlns:a16="http://schemas.microsoft.com/office/drawing/2014/main" id="{570B8269-D65A-453D-9C52-9E380A16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010400"/>
            <a:ext cx="65151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0F8F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0F8F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0F8FB"/>
                </a:solidFill>
                <a:latin typeface="Arial Unicode MS"/>
                <a:ea typeface="Arial Unicode MS"/>
                <a:cs typeface="Arial Unicode MS"/>
              </a:rPr>
              <a:t>有效问题、问数意图、能力明确不支持</a:t>
            </a:r>
          </a:p>
          <a:p xmlns:a="http://schemas.openxmlformats.org/drawingml/2006/main">
            <a:pPr algn="l">
              <a:defRPr sz="1875" b="0">
                <a:solidFill>
                  <a:srgbClr val="F0F8F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0F8FB"/>
                </a:solidFill>
                <a:latin typeface="Arial Unicode MS"/>
                <a:ea typeface="Arial Unicode MS"/>
                <a:cs typeface="Arial Unicode MS"/>
              </a:rPr>
              <a:t>三个条件同时满足后计数</a:t>
            </a:r>
          </a:p>
        </p:txBody>
      </p:sp>
      <p:sp>
        <p:nvSpPr>
          <p:cNvPr id="16" name="fingerprint-footer">
            <a:extLst xmlns:a="http://schemas.openxmlformats.org/drawingml/2006/main">
              <a:ext uri="{FF2B5EF4-FFF2-40B4-BE49-F238E27FC236}">
                <a16:creationId xmlns:a16="http://schemas.microsoft.com/office/drawing/2014/main" id="{C161CA64-FCC6-4621-B31C-90BB07DA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7720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5C3D4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5C3D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5C3D4"/>
                </a:solidFill>
                <a:latin typeface="Arial Unicode MS"/>
                <a:ea typeface="Arial Unicode MS"/>
                <a:cs typeface="Arial Unicode MS"/>
              </a:rPr>
              <a:t>双指纹绑定分析数据和能力材料，阻止旧评审串用。当前未接入自动训练、修复发布或生产复测。</a:t>
            </a:r>
          </a:p>
        </p:txBody>
      </p:sp>
    </p:spTree>
    <p:extLst>
      <p:ext uri="{BB962C8B-B14F-4D97-AF65-F5344CB8AC3E}">
        <p14:creationId xmlns:p14="http://schemas.microsoft.com/office/powerpoint/2010/main" val="428941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2026-10-15T05:50:09.4660000Z</dcterms:created>
  <dcterms:modified xsi:type="dcterms:W3CDTF">2026-10-15T05:50:09.4660000Z</dcterms:modified>
</coreProperties>
</file>